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8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E5AE-4C9F-3C63-5717-D3C768B98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35C641-85BA-C420-A1DC-1F1B7820F7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1E42D-C757-2DE3-5DB6-85DAB7504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FF138-4338-465F-9061-C44527A2501A}" type="datetimeFigureOut">
              <a:rPr lang="en-US" smtClean="0"/>
              <a:t>19-Mar-26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CC012-6EBE-4A08-902D-E6B30FB58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2FFFF2-F277-E997-554B-4137737B6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BA5C3-CBB7-42F9-A47E-AC559C17C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153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1E27D-F50C-2FA7-789D-962AF8996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F88F5-9477-D20F-3503-A090686EE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5BC2A-0E23-1199-AA67-036839A6C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FF138-4338-465F-9061-C44527A2501A}" type="datetimeFigureOut">
              <a:rPr lang="en-US" smtClean="0"/>
              <a:t>19-Mar-26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ACE79-DE71-C371-A9D6-79957E5B7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7074C-6F35-3789-35B0-2DD452B09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BA5C3-CBB7-42F9-A47E-AC559C17C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40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97432-79EF-A78B-75AA-1BBC3B4EC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04FF2-1D74-700D-1FAD-60520EEFA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168C8-971C-329B-C6DD-78C25886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FF138-4338-465F-9061-C44527A2501A}" type="datetimeFigureOut">
              <a:rPr lang="en-US" smtClean="0"/>
              <a:t>19-Mar-26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30C21-8EBD-EFE7-F632-03A32AB8D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5CA40-9FA5-C574-F0B3-766761899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BA5C3-CBB7-42F9-A47E-AC559C17C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363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71057-3EE5-DDCD-CD85-B8313FCC8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6AA7D-A940-24D1-15BE-235E83C9EA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284F4D-F313-8AD6-8343-17E3F6A082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AAF58E-0116-706B-4653-8289D2B36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FF138-4338-465F-9061-C44527A2501A}" type="datetimeFigureOut">
              <a:rPr lang="en-US" smtClean="0"/>
              <a:t>19-Mar-26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FD7745-2C55-382F-D82B-98DCF78F2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D52862-1497-0C87-966F-1BB991526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BA5C3-CBB7-42F9-A47E-AC559C17C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888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3DC2D-7B65-4FA2-CAB5-DAF47A730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1F2F4E-B676-CE10-703C-5B84FB609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D7D9DF-62A3-7195-9D4B-22E8EC80AB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5BCC5B-8B8E-CC54-73B2-90B3C135CE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0C3D77-00EC-FDB0-7517-5DE8EEE75B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0B604F-4455-51E4-4D17-F2224180A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FF138-4338-465F-9061-C44527A2501A}" type="datetimeFigureOut">
              <a:rPr lang="en-US" smtClean="0"/>
              <a:t>19-Mar-26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83B8E9-7B04-97E1-A44A-B7A91D6B4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F18490-84B9-6FE6-AF38-04BDBDECE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BA5C3-CBB7-42F9-A47E-AC559C17C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548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A4A32-244B-3620-DED6-CD987F2A5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D6B1B8-EC85-F356-D19A-53E1DCD7E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FF138-4338-465F-9061-C44527A2501A}" type="datetimeFigureOut">
              <a:rPr lang="en-US" smtClean="0"/>
              <a:t>19-Mar-26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A47B0F-89D2-D2BA-9910-54F44E849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030B34-32EF-FC3B-D414-14581D815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BA5C3-CBB7-42F9-A47E-AC559C17C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386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38228B-AD85-8461-7FE0-5A2872533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FF138-4338-465F-9061-C44527A2501A}" type="datetimeFigureOut">
              <a:rPr lang="en-US" smtClean="0"/>
              <a:t>19-Mar-26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DD4261-D0E7-2281-7657-E8799545F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12151-741B-F35A-D2F7-EBD968951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BA5C3-CBB7-42F9-A47E-AC559C17C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503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4F719-355F-ED6D-5963-92191882B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029A0-9A57-7ACC-E315-67AEC09C6A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EFF65D-EE8A-2748-C72E-D8956A2882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25B22E-8F64-04C9-24A9-CA45890D8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FF138-4338-465F-9061-C44527A2501A}" type="datetimeFigureOut">
              <a:rPr lang="en-US" smtClean="0"/>
              <a:t>19-Mar-26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F43EAA-D60F-4655-0F7A-14A5595C8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786731-C4A7-9104-A03F-9EA6F4279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BA5C3-CBB7-42F9-A47E-AC559C17C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1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A590E-ABC5-5232-B2EB-2A9AECA6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C1EBEB-9AF7-FD9D-4FCF-5F8AD549C5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2D003B-AF27-9695-421D-DAF9AE8545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DEE42B-FAF8-CFC9-B247-56AA527A0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FF138-4338-465F-9061-C44527A2501A}" type="datetimeFigureOut">
              <a:rPr lang="en-US" smtClean="0"/>
              <a:t>19-Mar-26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CEDEA6-E2D4-946F-31F8-5BCD925EE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52A88F-90C9-3D9A-1A57-9828E152B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BA5C3-CBB7-42F9-A47E-AC559C17C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973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222CB-776B-EB5F-FF8D-E63795A26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7FD039-494F-4209-8A3C-01FF253738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E3D6F-755C-9FBD-DD9A-47B1D0214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FF138-4338-465F-9061-C44527A2501A}" type="datetimeFigureOut">
              <a:rPr lang="en-US" smtClean="0"/>
              <a:t>19-Mar-26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CFD71-982E-1B51-997D-A8986A77C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68998-EC6E-D777-D136-5596F2EDB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BA5C3-CBB7-42F9-A47E-AC559C17C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053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46BDFC-4CE8-BCE0-5B2C-14DFDBE3AF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ED068F-388F-1C4D-D122-329D3CAAD2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887A2-0266-9A7E-C07A-9F9564FF9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FF138-4338-465F-9061-C44527A2501A}" type="datetimeFigureOut">
              <a:rPr lang="en-US" smtClean="0"/>
              <a:t>19-Mar-26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BC1A6-39DF-D798-437D-582FFA581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F4462-A7DD-6D82-0FB6-7FFC94B30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3BA5C3-CBB7-42F9-A47E-AC559C17C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562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5F9B1D-B5EC-7069-5385-604BF48C2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2D5DE6-6F39-E963-AE04-ABE0F5CF6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B92DE-9112-F95A-0C8D-BDCCE396CF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5FF138-4338-465F-9061-C44527A2501A}" type="datetimeFigureOut">
              <a:rPr lang="en-US" smtClean="0"/>
              <a:t>19-Mar-26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C0FAD-762D-2410-40ED-3732676701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8D174-7C01-FB93-746E-B868657E54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3BA5C3-CBB7-42F9-A47E-AC559C17C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96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6AC5C-BE6E-ED0C-26D3-B9583F1CE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entury Gothic" panose="020B0502020202020204" pitchFamily="34" charset="0"/>
              </a:rPr>
              <a:t>Analyzing Source Systems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DD7833F-5944-312A-2C2F-A32345186085}"/>
              </a:ext>
            </a:extLst>
          </p:cNvPr>
          <p:cNvGrpSpPr/>
          <p:nvPr/>
        </p:nvGrpSpPr>
        <p:grpSpPr>
          <a:xfrm>
            <a:off x="838199" y="1879132"/>
            <a:ext cx="4548434" cy="2571749"/>
            <a:chOff x="838199" y="1879132"/>
            <a:chExt cx="4548434" cy="257174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AB3805A5-03BD-E05E-307C-6A4CAA9DC8E7}"/>
                </a:ext>
              </a:extLst>
            </p:cNvPr>
            <p:cNvSpPr/>
            <p:nvPr/>
          </p:nvSpPr>
          <p:spPr>
            <a:xfrm>
              <a:off x="838199" y="2047519"/>
              <a:ext cx="4548434" cy="2403362"/>
            </a:xfrm>
            <a:prstGeom prst="roundRect">
              <a:avLst>
                <a:gd name="adj" fmla="val 2792"/>
              </a:avLst>
            </a:prstGeom>
            <a:solidFill>
              <a:schemeClr val="bg1"/>
            </a:solidFill>
            <a:effectLst>
              <a:outerShdw dist="127000" dir="2400000" sx="99000" sy="99000" algn="tl" rotWithShape="0">
                <a:prstClr val="black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latin typeface="Century Gothic" panose="020B0502020202020204" pitchFamily="34" charset="0"/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0405B78D-0107-DCE4-3263-B94C73A7577A}"/>
                </a:ext>
              </a:extLst>
            </p:cNvPr>
            <p:cNvSpPr/>
            <p:nvPr/>
          </p:nvSpPr>
          <p:spPr>
            <a:xfrm>
              <a:off x="1620790" y="1879132"/>
              <a:ext cx="2989139" cy="346982"/>
            </a:xfrm>
            <a:prstGeom prst="roundRect">
              <a:avLst>
                <a:gd name="adj" fmla="val 7413"/>
              </a:avLst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Century Gothic" panose="020B0502020202020204" pitchFamily="34" charset="0"/>
                </a:rPr>
                <a:t>Business Context &amp; Ownership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E369DF8-F3CF-C68B-705B-5E488709922B}"/>
                </a:ext>
              </a:extLst>
            </p:cNvPr>
            <p:cNvSpPr/>
            <p:nvPr/>
          </p:nvSpPr>
          <p:spPr>
            <a:xfrm>
              <a:off x="1052969" y="2445954"/>
              <a:ext cx="4124776" cy="403112"/>
            </a:xfrm>
            <a:prstGeom prst="rect">
              <a:avLst/>
            </a:prstGeom>
            <a:ln>
              <a:solidFill>
                <a:schemeClr val="bg2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Century Gothic" panose="020B0502020202020204" pitchFamily="34" charset="0"/>
                </a:rPr>
                <a:t>Who </a:t>
              </a:r>
              <a:r>
                <a:rPr lang="en-US" sz="1200" b="1" dirty="0">
                  <a:latin typeface="Century Gothic" panose="020B0502020202020204" pitchFamily="34" charset="0"/>
                </a:rPr>
                <a:t>Owns</a:t>
              </a:r>
              <a:r>
                <a:rPr lang="en-US" sz="1200" dirty="0">
                  <a:latin typeface="Century Gothic" panose="020B0502020202020204" pitchFamily="34" charset="0"/>
                </a:rPr>
                <a:t> The </a:t>
              </a:r>
              <a:r>
                <a:rPr lang="en-US" sz="1200" b="1" dirty="0">
                  <a:latin typeface="Century Gothic" panose="020B0502020202020204" pitchFamily="34" charset="0"/>
                </a:rPr>
                <a:t>Data</a:t>
              </a:r>
              <a:r>
                <a:rPr lang="en-US" sz="1200" dirty="0">
                  <a:latin typeface="Century Gothic" panose="020B0502020202020204" pitchFamily="34" charset="0"/>
                </a:rPr>
                <a:t>?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FF09468-D882-5CB1-0B1C-830C36A1BFEE}"/>
                </a:ext>
              </a:extLst>
            </p:cNvPr>
            <p:cNvSpPr/>
            <p:nvPr/>
          </p:nvSpPr>
          <p:spPr>
            <a:xfrm>
              <a:off x="1052969" y="2921566"/>
              <a:ext cx="4124776" cy="403112"/>
            </a:xfrm>
            <a:prstGeom prst="rect">
              <a:avLst/>
            </a:prstGeom>
            <a:ln>
              <a:solidFill>
                <a:schemeClr val="bg2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Century Gothic" panose="020B0502020202020204" pitchFamily="34" charset="0"/>
                </a:rPr>
                <a:t>What </a:t>
              </a:r>
              <a:r>
                <a:rPr lang="en-US" sz="1200" b="1" dirty="0">
                  <a:latin typeface="Century Gothic" panose="020B0502020202020204" pitchFamily="34" charset="0"/>
                </a:rPr>
                <a:t>Business Process </a:t>
              </a:r>
              <a:r>
                <a:rPr lang="en-US" sz="1200" dirty="0">
                  <a:latin typeface="Century Gothic" panose="020B0502020202020204" pitchFamily="34" charset="0"/>
                </a:rPr>
                <a:t>It Supports?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7E5ED5B-41CA-6DA3-EB5D-90DD4A43338E}"/>
                </a:ext>
              </a:extLst>
            </p:cNvPr>
            <p:cNvSpPr/>
            <p:nvPr/>
          </p:nvSpPr>
          <p:spPr>
            <a:xfrm>
              <a:off x="1052969" y="3397178"/>
              <a:ext cx="4124776" cy="403112"/>
            </a:xfrm>
            <a:prstGeom prst="rect">
              <a:avLst/>
            </a:prstGeom>
            <a:ln>
              <a:solidFill>
                <a:schemeClr val="bg2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Century Gothic" panose="020B0502020202020204" pitchFamily="34" charset="0"/>
                </a:rPr>
                <a:t>System &amp; Data </a:t>
              </a:r>
              <a:r>
                <a:rPr lang="en-US" sz="1200" b="1" dirty="0">
                  <a:latin typeface="Century Gothic" panose="020B0502020202020204" pitchFamily="34" charset="0"/>
                </a:rPr>
                <a:t>Documentation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9BF799E-8D79-4027-CDE4-04CB58433163}"/>
                </a:ext>
              </a:extLst>
            </p:cNvPr>
            <p:cNvSpPr/>
            <p:nvPr/>
          </p:nvSpPr>
          <p:spPr>
            <a:xfrm>
              <a:off x="1052969" y="3872790"/>
              <a:ext cx="4124776" cy="403112"/>
            </a:xfrm>
            <a:prstGeom prst="rect">
              <a:avLst/>
            </a:prstGeom>
            <a:ln>
              <a:solidFill>
                <a:schemeClr val="bg2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Century Gothic" panose="020B0502020202020204" pitchFamily="34" charset="0"/>
                </a:rPr>
                <a:t>Data </a:t>
              </a:r>
              <a:r>
                <a:rPr lang="en-US" sz="1200" b="1" dirty="0">
                  <a:latin typeface="Century Gothic" panose="020B0502020202020204" pitchFamily="34" charset="0"/>
                </a:rPr>
                <a:t>Model</a:t>
              </a:r>
              <a:r>
                <a:rPr lang="en-US" sz="1200" dirty="0">
                  <a:latin typeface="Century Gothic" panose="020B0502020202020204" pitchFamily="34" charset="0"/>
                </a:rPr>
                <a:t> &amp; Data </a:t>
              </a:r>
              <a:r>
                <a:rPr lang="en-US" sz="1200" b="1" dirty="0">
                  <a:latin typeface="Century Gothic" panose="020B0502020202020204" pitchFamily="34" charset="0"/>
                </a:rPr>
                <a:t>Catalog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35440C2-2F27-0424-D1BE-41DDD18BB79A}"/>
              </a:ext>
            </a:extLst>
          </p:cNvPr>
          <p:cNvGrpSpPr/>
          <p:nvPr/>
        </p:nvGrpSpPr>
        <p:grpSpPr>
          <a:xfrm>
            <a:off x="838199" y="4670721"/>
            <a:ext cx="4548434" cy="1880126"/>
            <a:chOff x="838199" y="4670721"/>
            <a:chExt cx="4548434" cy="188012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843CD72C-8028-DD81-2013-4BAB3E4D182E}"/>
                </a:ext>
              </a:extLst>
            </p:cNvPr>
            <p:cNvSpPr/>
            <p:nvPr/>
          </p:nvSpPr>
          <p:spPr>
            <a:xfrm>
              <a:off x="838199" y="4862215"/>
              <a:ext cx="4548434" cy="1688632"/>
            </a:xfrm>
            <a:prstGeom prst="roundRect">
              <a:avLst>
                <a:gd name="adj" fmla="val 4278"/>
              </a:avLst>
            </a:prstGeom>
            <a:solidFill>
              <a:schemeClr val="bg1"/>
            </a:solidFill>
            <a:effectLst>
              <a:outerShdw dist="127000" dir="2400000" sx="99000" sy="99000" algn="tl" rotWithShape="0">
                <a:prstClr val="black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latin typeface="Century Gothic" panose="020B0502020202020204" pitchFamily="34" charset="0"/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1AD46316-25FB-865E-E56D-B0A4F9AF9B6B}"/>
                </a:ext>
              </a:extLst>
            </p:cNvPr>
            <p:cNvSpPr/>
            <p:nvPr/>
          </p:nvSpPr>
          <p:spPr>
            <a:xfrm>
              <a:off x="1453609" y="4670721"/>
              <a:ext cx="3323500" cy="394594"/>
            </a:xfrm>
            <a:prstGeom prst="roundRect">
              <a:avLst>
                <a:gd name="adj" fmla="val 7413"/>
              </a:avLst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Century Gothic" panose="020B0502020202020204" pitchFamily="34" charset="0"/>
                </a:rPr>
                <a:t>Architecture &amp; Technology Stack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7410A34-44A2-19B0-D1B8-B150FDF53BF6}"/>
                </a:ext>
              </a:extLst>
            </p:cNvPr>
            <p:cNvSpPr/>
            <p:nvPr/>
          </p:nvSpPr>
          <p:spPr>
            <a:xfrm>
              <a:off x="1052969" y="5315321"/>
              <a:ext cx="4124776" cy="458426"/>
            </a:xfrm>
            <a:prstGeom prst="rect">
              <a:avLst/>
            </a:prstGeom>
            <a:ln>
              <a:solidFill>
                <a:schemeClr val="bg2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Century Gothic" panose="020B0502020202020204" pitchFamily="34" charset="0"/>
                </a:rPr>
                <a:t>How Is Data </a:t>
              </a:r>
              <a:r>
                <a:rPr lang="en-US" sz="1200" b="1" dirty="0">
                  <a:latin typeface="Century Gothic" panose="020B0502020202020204" pitchFamily="34" charset="0"/>
                </a:rPr>
                <a:t>Stored</a:t>
              </a:r>
              <a:r>
                <a:rPr lang="en-US" sz="1200" dirty="0">
                  <a:latin typeface="Century Gothic" panose="020B0502020202020204" pitchFamily="34" charset="0"/>
                </a:rPr>
                <a:t>?</a:t>
              </a:r>
            </a:p>
            <a:p>
              <a:pPr algn="ctr"/>
              <a:r>
                <a:rPr lang="en-US" sz="1200" dirty="0">
                  <a:latin typeface="Century Gothic" panose="020B0502020202020204" pitchFamily="34" charset="0"/>
                </a:rPr>
                <a:t>(SQL Server, Oracle, AWS, Azure, …)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DBE246F-9CBB-B520-FC8E-A8A8962C3E67}"/>
                </a:ext>
              </a:extLst>
            </p:cNvPr>
            <p:cNvSpPr/>
            <p:nvPr/>
          </p:nvSpPr>
          <p:spPr>
            <a:xfrm>
              <a:off x="1052969" y="5856195"/>
              <a:ext cx="4124776" cy="458426"/>
            </a:xfrm>
            <a:prstGeom prst="rect">
              <a:avLst/>
            </a:prstGeom>
            <a:ln>
              <a:solidFill>
                <a:schemeClr val="bg2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Century Gothic" panose="020B0502020202020204" pitchFamily="34" charset="0"/>
                </a:rPr>
                <a:t>What Are The </a:t>
              </a:r>
              <a:r>
                <a:rPr lang="en-US" sz="1200" b="1" dirty="0">
                  <a:latin typeface="Century Gothic" panose="020B0502020202020204" pitchFamily="34" charset="0"/>
                </a:rPr>
                <a:t>Integration Capabilities</a:t>
              </a:r>
              <a:r>
                <a:rPr lang="en-US" sz="1200" dirty="0">
                  <a:latin typeface="Century Gothic" panose="020B0502020202020204" pitchFamily="34" charset="0"/>
                </a:rPr>
                <a:t>?</a:t>
              </a:r>
            </a:p>
            <a:p>
              <a:pPr algn="ctr"/>
              <a:r>
                <a:rPr lang="en-US" sz="1200" dirty="0">
                  <a:latin typeface="Century Gothic" panose="020B0502020202020204" pitchFamily="34" charset="0"/>
                </a:rPr>
                <a:t>(API, Kafka, File Extract, Direct DB, …)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3555CEA-F167-6D7D-96CC-B9894B67BEC6}"/>
              </a:ext>
            </a:extLst>
          </p:cNvPr>
          <p:cNvGrpSpPr/>
          <p:nvPr/>
        </p:nvGrpSpPr>
        <p:grpSpPr>
          <a:xfrm>
            <a:off x="5838825" y="1848096"/>
            <a:ext cx="5514975" cy="3925651"/>
            <a:chOff x="5838825" y="1849399"/>
            <a:chExt cx="5514975" cy="3760825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2A7E088D-0828-EF00-AEBF-EA0C284D788B}"/>
                </a:ext>
              </a:extLst>
            </p:cNvPr>
            <p:cNvSpPr/>
            <p:nvPr/>
          </p:nvSpPr>
          <p:spPr>
            <a:xfrm>
              <a:off x="5838825" y="2041384"/>
              <a:ext cx="5514975" cy="3568840"/>
            </a:xfrm>
            <a:prstGeom prst="roundRect">
              <a:avLst>
                <a:gd name="adj" fmla="val 2861"/>
              </a:avLst>
            </a:prstGeom>
            <a:solidFill>
              <a:schemeClr val="bg1"/>
            </a:solidFill>
            <a:effectLst>
              <a:outerShdw dist="127000" dir="2400000" sx="99000" sy="99000" algn="tl" rotWithShape="0">
                <a:prstClr val="black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Century Gothic" panose="020B0502020202020204" pitchFamily="34" charset="0"/>
                </a:rPr>
                <a:t>y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B951932A-DF4A-895C-1CB8-0232A65FBF6A}"/>
                </a:ext>
              </a:extLst>
            </p:cNvPr>
            <p:cNvSpPr/>
            <p:nvPr/>
          </p:nvSpPr>
          <p:spPr>
            <a:xfrm>
              <a:off x="6805369" y="1849399"/>
              <a:ext cx="3610318" cy="382100"/>
            </a:xfrm>
            <a:prstGeom prst="roundRect">
              <a:avLst>
                <a:gd name="adj" fmla="val 7413"/>
              </a:avLst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Century Gothic" panose="020B0502020202020204" pitchFamily="34" charset="0"/>
                </a:rPr>
                <a:t>Extract &amp; Load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D9EA41A-99B3-D602-6D35-C32FC30AAC38}"/>
                </a:ext>
              </a:extLst>
            </p:cNvPr>
            <p:cNvSpPr/>
            <p:nvPr/>
          </p:nvSpPr>
          <p:spPr>
            <a:xfrm>
              <a:off x="6119548" y="2385319"/>
              <a:ext cx="4981955" cy="443910"/>
            </a:xfrm>
            <a:prstGeom prst="rect">
              <a:avLst/>
            </a:prstGeom>
            <a:ln>
              <a:solidFill>
                <a:schemeClr val="bg2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Century Gothic" panose="020B0502020202020204" pitchFamily="34" charset="0"/>
                </a:rPr>
                <a:t>Incremental</a:t>
              </a:r>
              <a:r>
                <a:rPr lang="en-US" sz="1200" dirty="0">
                  <a:latin typeface="Century Gothic" panose="020B0502020202020204" pitchFamily="34" charset="0"/>
                </a:rPr>
                <a:t> vs. </a:t>
              </a:r>
              <a:r>
                <a:rPr lang="en-US" sz="1200" b="1" dirty="0">
                  <a:latin typeface="Century Gothic" panose="020B0502020202020204" pitchFamily="34" charset="0"/>
                </a:rPr>
                <a:t>Full Loads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24B536F-D0C8-018D-F980-38271F15B892}"/>
                </a:ext>
              </a:extLst>
            </p:cNvPr>
            <p:cNvSpPr/>
            <p:nvPr/>
          </p:nvSpPr>
          <p:spPr>
            <a:xfrm>
              <a:off x="6119548" y="2909067"/>
              <a:ext cx="4981955" cy="443910"/>
            </a:xfrm>
            <a:prstGeom prst="rect">
              <a:avLst/>
            </a:prstGeom>
            <a:ln>
              <a:solidFill>
                <a:schemeClr val="bg2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Century Gothic" panose="020B0502020202020204" pitchFamily="34" charset="0"/>
                </a:rPr>
                <a:t>Data </a:t>
              </a:r>
              <a:r>
                <a:rPr lang="en-US" sz="1200" b="1" dirty="0">
                  <a:latin typeface="Century Gothic" panose="020B0502020202020204" pitchFamily="34" charset="0"/>
                </a:rPr>
                <a:t>Scope</a:t>
              </a:r>
              <a:r>
                <a:rPr lang="en-US" sz="1200" dirty="0">
                  <a:latin typeface="Century Gothic" panose="020B0502020202020204" pitchFamily="34" charset="0"/>
                </a:rPr>
                <a:t> &amp; </a:t>
              </a:r>
              <a:r>
                <a:rPr lang="en-US" sz="1200" b="1" dirty="0">
                  <a:latin typeface="Century Gothic" panose="020B0502020202020204" pitchFamily="34" charset="0"/>
                </a:rPr>
                <a:t>Historical</a:t>
              </a:r>
              <a:r>
                <a:rPr lang="en-US" sz="1200" dirty="0">
                  <a:latin typeface="Century Gothic" panose="020B0502020202020204" pitchFamily="34" charset="0"/>
                </a:rPr>
                <a:t> Needs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C2097B5-2AF0-69E9-D047-90A9335C9481}"/>
                </a:ext>
              </a:extLst>
            </p:cNvPr>
            <p:cNvSpPr/>
            <p:nvPr/>
          </p:nvSpPr>
          <p:spPr>
            <a:xfrm>
              <a:off x="6119548" y="3432816"/>
              <a:ext cx="4981955" cy="443910"/>
            </a:xfrm>
            <a:prstGeom prst="rect">
              <a:avLst/>
            </a:prstGeom>
            <a:ln>
              <a:solidFill>
                <a:schemeClr val="bg2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Century Gothic" panose="020B0502020202020204" pitchFamily="34" charset="0"/>
                </a:rPr>
                <a:t>What is the expected </a:t>
              </a:r>
              <a:r>
                <a:rPr lang="en-US" sz="1200" b="1" dirty="0">
                  <a:latin typeface="Century Gothic" panose="020B0502020202020204" pitchFamily="34" charset="0"/>
                </a:rPr>
                <a:t>size</a:t>
              </a:r>
              <a:r>
                <a:rPr lang="en-US" sz="1200" dirty="0">
                  <a:latin typeface="Century Gothic" panose="020B0502020202020204" pitchFamily="34" charset="0"/>
                </a:rPr>
                <a:t> of the </a:t>
              </a:r>
              <a:r>
                <a:rPr lang="en-US" sz="1200" b="1" dirty="0">
                  <a:latin typeface="Century Gothic" panose="020B0502020202020204" pitchFamily="34" charset="0"/>
                </a:rPr>
                <a:t>extracts</a:t>
              </a:r>
              <a:r>
                <a:rPr lang="en-US" sz="1200" dirty="0">
                  <a:latin typeface="Century Gothic" panose="020B0502020202020204" pitchFamily="34" charset="0"/>
                </a:rPr>
                <a:t>?</a:t>
              </a:r>
              <a:endParaRPr lang="en-US" sz="1200" b="1" dirty="0">
                <a:latin typeface="Century Gothic" panose="020B0502020202020204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8CA6F36-74ED-F36E-2A75-D3C9621DB847}"/>
                </a:ext>
              </a:extLst>
            </p:cNvPr>
            <p:cNvSpPr/>
            <p:nvPr/>
          </p:nvSpPr>
          <p:spPr>
            <a:xfrm>
              <a:off x="6119548" y="3956564"/>
              <a:ext cx="4981955" cy="443910"/>
            </a:xfrm>
            <a:prstGeom prst="rect">
              <a:avLst/>
            </a:prstGeom>
            <a:ln>
              <a:solidFill>
                <a:schemeClr val="bg2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Century Gothic" panose="020B0502020202020204" pitchFamily="34" charset="0"/>
                </a:rPr>
                <a:t>Are there any data </a:t>
              </a:r>
              <a:r>
                <a:rPr lang="en-US" sz="1200" b="1" dirty="0">
                  <a:latin typeface="Century Gothic" panose="020B0502020202020204" pitchFamily="34" charset="0"/>
                </a:rPr>
                <a:t>volume limitations</a:t>
              </a:r>
              <a:r>
                <a:rPr lang="en-US" sz="1200" dirty="0">
                  <a:latin typeface="Century Gothic" panose="020B0502020202020204" pitchFamily="34" charset="0"/>
                </a:rPr>
                <a:t>?</a:t>
              </a:r>
              <a:endParaRPr lang="en-US" sz="1200" b="1" dirty="0">
                <a:latin typeface="Century Gothic" panose="020B0502020202020204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87214F0-39E1-4D1E-F7FE-107DEC4EBEB6}"/>
                </a:ext>
              </a:extLst>
            </p:cNvPr>
            <p:cNvSpPr/>
            <p:nvPr/>
          </p:nvSpPr>
          <p:spPr>
            <a:xfrm>
              <a:off x="6119548" y="4480312"/>
              <a:ext cx="4981955" cy="443910"/>
            </a:xfrm>
            <a:prstGeom prst="rect">
              <a:avLst/>
            </a:prstGeom>
            <a:ln>
              <a:solidFill>
                <a:schemeClr val="bg2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Century Gothic" panose="020B0502020202020204" pitchFamily="34" charset="0"/>
                </a:rPr>
                <a:t>How to </a:t>
              </a:r>
              <a:r>
                <a:rPr lang="en-US" sz="1200" b="1" dirty="0">
                  <a:latin typeface="Century Gothic" panose="020B0502020202020204" pitchFamily="34" charset="0"/>
                </a:rPr>
                <a:t>avoid impacting </a:t>
              </a:r>
              <a:r>
                <a:rPr lang="en-US" sz="1200" dirty="0">
                  <a:latin typeface="Century Gothic" panose="020B0502020202020204" pitchFamily="34" charset="0"/>
                </a:rPr>
                <a:t>the source system’s </a:t>
              </a:r>
              <a:r>
                <a:rPr lang="en-US" sz="1200" b="1" dirty="0">
                  <a:latin typeface="Century Gothic" panose="020B0502020202020204" pitchFamily="34" charset="0"/>
                </a:rPr>
                <a:t>performance</a:t>
              </a:r>
              <a:r>
                <a:rPr lang="en-US" sz="1200" dirty="0">
                  <a:latin typeface="Century Gothic" panose="020B0502020202020204" pitchFamily="34" charset="0"/>
                </a:rPr>
                <a:t>?</a:t>
              </a:r>
              <a:endParaRPr lang="en-US" sz="1200" b="1" dirty="0">
                <a:latin typeface="Century Gothic" panose="020B0502020202020204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DA8D928-1C20-1A00-A007-6A2D31A2DB5D}"/>
                </a:ext>
              </a:extLst>
            </p:cNvPr>
            <p:cNvSpPr/>
            <p:nvPr/>
          </p:nvSpPr>
          <p:spPr>
            <a:xfrm>
              <a:off x="6119548" y="5004061"/>
              <a:ext cx="4981955" cy="443910"/>
            </a:xfrm>
            <a:prstGeom prst="rect">
              <a:avLst/>
            </a:prstGeom>
            <a:ln>
              <a:solidFill>
                <a:schemeClr val="bg2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latin typeface="Century Gothic" panose="020B0502020202020204" pitchFamily="34" charset="0"/>
                </a:rPr>
                <a:t>Authentication</a:t>
              </a:r>
              <a:r>
                <a:rPr lang="en-US" sz="1200" dirty="0">
                  <a:latin typeface="Century Gothic" panose="020B0502020202020204" pitchFamily="34" charset="0"/>
                </a:rPr>
                <a:t> and </a:t>
              </a:r>
              <a:r>
                <a:rPr lang="en-US" sz="1200" b="1" dirty="0">
                  <a:latin typeface="Century Gothic" panose="020B0502020202020204" pitchFamily="34" charset="0"/>
                </a:rPr>
                <a:t>Authorization</a:t>
              </a:r>
            </a:p>
            <a:p>
              <a:pPr algn="ctr"/>
              <a:r>
                <a:rPr lang="en-US" sz="1200" dirty="0">
                  <a:latin typeface="Century Gothic" panose="020B0502020202020204" pitchFamily="34" charset="0"/>
                </a:rPr>
                <a:t>(tokens, SSH kyes, VPN, IP whitelisting, …)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21562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119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Century Gothic</vt:lpstr>
      <vt:lpstr>Office Theme</vt:lpstr>
      <vt:lpstr>Analyzing Source Systems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Sohaib Atef</dc:creator>
  <cp:lastModifiedBy>Sohaib Atef</cp:lastModifiedBy>
  <cp:revision>1</cp:revision>
  <dcterms:created xsi:type="dcterms:W3CDTF">2026-03-19T10:35:31Z</dcterms:created>
  <dcterms:modified xsi:type="dcterms:W3CDTF">2026-03-19T11:06:33Z</dcterms:modified>
</cp:coreProperties>
</file>